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4" userDrawn="1">
          <p15:clr>
            <a:srgbClr val="747775"/>
          </p15:clr>
        </p15:guide>
        <p15:guide id="2" pos="290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44"/>
        <p:guide pos="290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「旧的怎么办」校园二手交易平台项目启动会。今天，我们将向各位老师和同学详细介绍我们的项目计划。这个项目旨在解决校园内普遍存在的闲置物品处理难题，通过技术手段，打造一个安全、便捷、高效的校园专属二手交易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五个部分。首先，我们将介绍项目的整体概况，包括背景、目标和核心功能。接着，会详细阐述我们的技术架构和开发方法。之后，介绍我们的核心团队成员及其职责。然后，展示详细的项目时间表和关键里程碑。最后，我们会说明项目所需的资源以及潜在的风险管理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首先，让我们进入第一部分：项目概述。在这一章，我们将深入探讨项目的起源、我们希望达成的目标，以及我们为这个项目构想的宏伟蓝图。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灵感来源于对校园生活的细致观察。大家可以看到，这张图非常直观地展示了许多同学面临的困境：闲置物品堆积如山。传统的交易方式效率低下、流程不规范、信任成本高，并且信息分散。这些痛点正是我们项目的出发点，我们相信，一个专属的校园二手交易平台存在巨大的市场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对痛点的分析，我们为项目设定了清晰的目标。核心目标是必须完成的，包括成功交付产品、通过项目验收，并切实解决用户痛点。在此基础上，我们还有一些延伸目标，如沉淀知识资产、构建可复用架构，以及通过项目树立我们团队的品牌形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名字是项目成功的一半。我们选择“旧的怎么办”作为主品牌名，因为它口语化、易传播，并且能与用户产生强烈的情感共鸣。同时，我们为PC网站和微信小程序设定了更具体的名称，以确保在不同平台上的定位清晰和易于搜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将覆盖二手交易的全链路，共包含七大核心模块。从用户注册认证开始，到商品发布、搜索、沟通、下单，再到最终的评价和平台管理，我们确保每一个环节都流畅、便捷，为用户提供一站式的交易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接下来进入第二部分，项目实施规划。在这里，我们将详细介绍支撑我们项目的技术架构，以及我们将采用的开发方法。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我们设计了一套现代化、稳健的技术架构。后端采用Spring Boot和MyBatis，保证开发效率和稳定性。前端PC端使用Vue.js，小程序端采用原生开发以获得最佳体验。数据库选用MySQL，缓存使用Redis。整个开发流程将在飞书平台上进行协作，确保高效沟通与管理。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快速交付并适应需求变化，我们选择Scrum敏捷开发模型。我们将以2周为一个迭代周期，遵循“先出MVP，再持续优化”的原则。通过规范的会议机制和交付机制，我们确保项目进度的透明、可控，并能快速响应反馈，持续改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项目的成功离不开一个强大的团队。在第三部分，我们将介绍我们的核心团队成员，以及每个人在项目中扮演的关键角色和承担的职责。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由四名成员组成，技能互补，分工明确。李明阳作为项目经理和产品负责人，把控全局；唐龙逸负责后端核心业务开发；梁有黎负责数据、中间件和运维；杨航则主导PC端的前端开发。每个人都是项目不可或缺的英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为了确保高效协作，我们建立了一套简单有效的沟通机制。日常沟通主要通过微信群，正式文档和任务管理则依托飞书平台。结合每周的Sprint会议，我们能确保信息的及时同步和透明，保障项目顺利推进。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第四部分，我们将展示项目的详细时间表，也就是我们的路线图。这包括了关键的里程碑和按Sprint划分的详细进度计划。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项目划分为6个关键里程碑，从项目启动到最终验收，每个里程碑都有明确的完成时间和核心交付物。目前，我们已经完成了项目启动和需求定稿，正在进行MVP版本的开发。这些里程碑将作为我们衡量项目进度的重要依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这是我们详细的进度计划，严格按照6个Sprint展开。每个Sprint都有明确的任务和产出，从前期的准备工作，到MVP开发，再到功能拓展和最终交付，我们确保每个阶段都有条不紊地进行。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最后，第五部分，我们将讨论项目所需的资源以及我们对潜在风险的管理策略，这是项目成功的重要保障。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在资源方面，我们主要依赖团队成员的个人电脑进行开发，并计划使用成本可控的学生优惠云服务器作为测试和生产环境。同时，我们也规划了完整的软件工具链，涵盖开发、数据、协作和测试环节。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潜在风险，我们进行了预判并制定了应对策略，涵盖技术、进度、资源和协作四个方面。通过提前研究方案、遵循敏捷流程、做好资源预案以及强化沟通机制，我们有信心规避风险，确保项目的顺利推进和按时交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拥有清晰的目标、可行的计划、强大的团队和充分的准备。我们坚信，「旧的怎么办」项目不仅是一个课程作业，更是我们团队技术能力、创新思维和协作精神的一次集中展示。我们已经准备好，迎接挑战，为校园创造真正的价值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我的报告到此结束，感谢各位老师和同学的聆听。现在是问答环节，欢迎大家提问。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2.svg"/><Relationship Id="rId12" Type="http://schemas.openxmlformats.org/officeDocument/2006/relationships/image" Target="../media/image2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6.svg"/><Relationship Id="rId14" Type="http://schemas.openxmlformats.org/officeDocument/2006/relationships/image" Target="../media/image35.png"/><Relationship Id="rId13" Type="http://schemas.openxmlformats.org/officeDocument/2006/relationships/image" Target="../media/image34.svg"/><Relationship Id="rId12" Type="http://schemas.openxmlformats.org/officeDocument/2006/relationships/image" Target="../media/image33.png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50.svg"/><Relationship Id="rId16" Type="http://schemas.openxmlformats.org/officeDocument/2006/relationships/image" Target="../media/image49.png"/><Relationship Id="rId15" Type="http://schemas.openxmlformats.org/officeDocument/2006/relationships/image" Target="../media/image48.svg"/><Relationship Id="rId14" Type="http://schemas.openxmlformats.org/officeDocument/2006/relationships/image" Target="../media/image47.png"/><Relationship Id="rId13" Type="http://schemas.openxmlformats.org/officeDocument/2006/relationships/image" Target="../media/image46.svg"/><Relationship Id="rId12" Type="http://schemas.openxmlformats.org/officeDocument/2006/relationships/image" Target="../media/image45.png"/><Relationship Id="rId11" Type="http://schemas.openxmlformats.org/officeDocument/2006/relationships/image" Target="../media/image44.svg"/><Relationship Id="rId10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0.svg"/><Relationship Id="rId6" Type="http://schemas.openxmlformats.org/officeDocument/2006/relationships/image" Target="../media/image5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5" Type="http://schemas.openxmlformats.org/officeDocument/2006/relationships/notesSlide" Target="../notesSlides/notesSlide13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24.xml"/><Relationship Id="rId32" Type="http://schemas.openxmlformats.org/officeDocument/2006/relationships/tags" Target="../tags/tag23.xml"/><Relationship Id="rId31" Type="http://schemas.openxmlformats.org/officeDocument/2006/relationships/image" Target="../media/image57.svg"/><Relationship Id="rId30" Type="http://schemas.openxmlformats.org/officeDocument/2006/relationships/image" Target="../media/image56.png"/><Relationship Id="rId3" Type="http://schemas.openxmlformats.org/officeDocument/2006/relationships/tags" Target="../tags/tag2.xml"/><Relationship Id="rId29" Type="http://schemas.openxmlformats.org/officeDocument/2006/relationships/tags" Target="../tags/tag22.xml"/><Relationship Id="rId28" Type="http://schemas.openxmlformats.org/officeDocument/2006/relationships/tags" Target="../tags/tag21.xml"/><Relationship Id="rId27" Type="http://schemas.openxmlformats.org/officeDocument/2006/relationships/tags" Target="../tags/tag20.xml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image" Target="../media/image55.svg"/><Relationship Id="rId22" Type="http://schemas.openxmlformats.org/officeDocument/2006/relationships/image" Target="../media/image54.png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image" Target="../media/image53.svg"/><Relationship Id="rId14" Type="http://schemas.openxmlformats.org/officeDocument/2006/relationships/image" Target="../media/image52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7" Type="http://schemas.openxmlformats.org/officeDocument/2006/relationships/notesSlide" Target="../notesSlides/notesSlide15.xml"/><Relationship Id="rId46" Type="http://schemas.openxmlformats.org/officeDocument/2006/relationships/slideLayout" Target="../slideLayouts/slideLayout12.xml"/><Relationship Id="rId45" Type="http://schemas.openxmlformats.org/officeDocument/2006/relationships/tags" Target="../tags/tag68.xml"/><Relationship Id="rId44" Type="http://schemas.openxmlformats.org/officeDocument/2006/relationships/tags" Target="../tags/tag67.xml"/><Relationship Id="rId43" Type="http://schemas.openxmlformats.org/officeDocument/2006/relationships/tags" Target="../tags/tag66.xml"/><Relationship Id="rId42" Type="http://schemas.openxmlformats.org/officeDocument/2006/relationships/tags" Target="../tags/tag65.xml"/><Relationship Id="rId41" Type="http://schemas.openxmlformats.org/officeDocument/2006/relationships/tags" Target="../tags/tag64.xml"/><Relationship Id="rId40" Type="http://schemas.openxmlformats.org/officeDocument/2006/relationships/tags" Target="../tags/tag63.xml"/><Relationship Id="rId4" Type="http://schemas.openxmlformats.org/officeDocument/2006/relationships/tags" Target="../tags/tag27.xml"/><Relationship Id="rId39" Type="http://schemas.openxmlformats.org/officeDocument/2006/relationships/tags" Target="../tags/tag62.xml"/><Relationship Id="rId38" Type="http://schemas.openxmlformats.org/officeDocument/2006/relationships/tags" Target="../tags/tag61.xml"/><Relationship Id="rId37" Type="http://schemas.openxmlformats.org/officeDocument/2006/relationships/tags" Target="../tags/tag60.xml"/><Relationship Id="rId36" Type="http://schemas.openxmlformats.org/officeDocument/2006/relationships/tags" Target="../tags/tag59.xml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tags" Target="../tags/tag56.xml"/><Relationship Id="rId32" Type="http://schemas.openxmlformats.org/officeDocument/2006/relationships/tags" Target="../tags/tag55.xml"/><Relationship Id="rId31" Type="http://schemas.openxmlformats.org/officeDocument/2006/relationships/tags" Target="../tags/tag54.xml"/><Relationship Id="rId30" Type="http://schemas.openxmlformats.org/officeDocument/2006/relationships/tags" Target="../tags/tag53.xml"/><Relationship Id="rId3" Type="http://schemas.openxmlformats.org/officeDocument/2006/relationships/tags" Target="../tags/tag26.xml"/><Relationship Id="rId29" Type="http://schemas.openxmlformats.org/officeDocument/2006/relationships/tags" Target="../tags/tag52.xml"/><Relationship Id="rId28" Type="http://schemas.openxmlformats.org/officeDocument/2006/relationships/tags" Target="../tags/tag51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7.svg"/><Relationship Id="rId10" Type="http://schemas.openxmlformats.org/officeDocument/2006/relationships/image" Target="../media/image66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889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旧的怎么办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校园二手交易平台项目启动报告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李明阳小组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122174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65300" y="188595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2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70400" y="1524000"/>
            <a:ext cx="3492500" cy="122174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60900" y="17145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86400" y="188595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项目实施规划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91500" y="1524000"/>
            <a:ext cx="3492500" cy="122174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17145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07500" y="188595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核心团队与职责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3365500"/>
            <a:ext cx="5270500" cy="133286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365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36830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803400" y="38100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项目时间表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3365500"/>
            <a:ext cx="5270500" cy="133286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3365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36830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88860" y="38100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SzTx/>
              <a:defRPr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资源与风险管理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3970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4224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洞察校园痛点，把握时代机遇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学期末与毕业季，校园内海量闲置物品（教科书、电子产品、生活用品等）堆积成常态，资源价值随时间快速递减。传统处理方式不仅造成极大的资源浪费，更让广大学生陷入“留之占地、弃之可惜、卖之无门”的现实困境，这也让校园二手交易的规范化与数字化升级成为迫切的时代需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321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交易效率低下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3655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线下跳蚤市场受时空严格限制，买卖双方信息严重不对称。供需匹配全靠碰运气，耗费大量时间成本却往往难以达成交易。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41700" y="2667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417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2200" y="285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76700" y="28321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流程不规范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32200" y="33655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私下交易缺乏统一标准与第三方监管，物品质量、钱款支付无保障。一旦产生纠纷，学生往往维权无门，交易风险居高不下。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21400" y="2667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1214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1900" y="285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56400" y="28321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信任成本高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11900" y="33655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陌生人交易缺乏信任基础，没有官方的学生身份认证机制。假货、虚假信息、临时爽约等现象频发，让买卖双方都不敢放心交易。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01100" y="2667000"/>
            <a:ext cx="2565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011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1600" y="2857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436100" y="28321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信息孤岛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91600" y="33655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闲置物品信息分散在朋友圈、班级群、公告栏等各个角落，没有统一的检索和发布平台。用户寻找目标物品如同大海捞针，流通效率极低。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8895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" y="5016500"/>
            <a:ext cx="1028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解决方案：「旧的怎么办」校园专属二手交易平台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2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 eaLnBrk="1" fontAlgn="auto" latinLnBrk="0" hangingPunct="1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5FC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打造的不仅是一个交易工具，更是基于校园真实身份的信任社区。通过实名认证机制降低信任成本，规范化流程保障交易安全，聚合式平台打破信息孤岛。旨在让每一件闲置物品都能找到新主人，提升校园资源循环效率，为大学生提供更绿色、更经济、更省心的生活新选择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打造校园闲置交易新生态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17526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676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成功交付可演示产品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14500" y="2095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完成PC网站与微信小程序双端核心功能开发，打通发布、议价、交易的全流程闭环。打造出功能完整、流程顺畅的可演示产品，让用户能直观体验到闲置交易的便捷性。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75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1750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3274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700" y="34036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327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通过项目严格验收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14500" y="3746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以高标准完成中期答辩与最终成果验收。通过详实的功能演示、数据支撑和价值汇报，向项目评审方证明产品的可行性，确保项目顺利结项并投入试运行。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508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9784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700" y="50546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14500" y="4978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解决用户核心痛点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714500" y="5397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深入洞察校园用户的真实需求，优化产品交互与使用流程。提供比现有方案更高效、更安全的闲置交易体验，切实解决信息不对称、交易流程繁琐等核心问题。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91070">
            <a:off x="3714750" y="3962408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50000" y="1524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50000" y="1524000"/>
            <a:ext cx="50800" cy="1587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40500" y="1676400"/>
            <a:ext cx="6096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6700" y="17526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02500" y="1676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沉淀完整知识资产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02500" y="2095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在项目开发过程中，系统梳理需求分析、技术选型、开发规范与上线流程。输出一套标准化、高质量的项目文档，为后续产品迭代和同类校园项目开发提供可复用的经验参考。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3175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3175000"/>
            <a:ext cx="50800" cy="1587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540500" y="3327400"/>
            <a:ext cx="6096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6700" y="3403600"/>
            <a:ext cx="457200" cy="457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302500" y="3327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构建可复用技术架构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302500" y="3746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采用模块化与低耦合的设计思路搭建系统。打造出灵活、易扩展的校园场景交易技术底座，不仅能支撑当前业务，还能快速适配跳蚤市场、旧物置换等未来潜在的校园业务场景。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350000" y="4826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50000" y="4826000"/>
            <a:ext cx="50800" cy="1587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540500" y="4978400"/>
            <a:ext cx="609600" cy="6096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16700" y="5054600"/>
            <a:ext cx="457200" cy="4572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302500" y="49784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树立优秀团队品牌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302500" y="5397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通过高质量的产品交付与专业的项目执行，对外展现团队扎实的技术研发实力、高效的项目管理能力和创新的问题解决思路。在校园技术实践领域中，打造出值得信赖的团队技术品牌。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旧的怎么办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主品牌名：旧的怎么办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直击痛点的情感共鸣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直接切入用户面对闲置物品时的核心困惑，瞬间建立情感连接，让用户感受到品牌懂他们的需求。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524000"/>
            <a:ext cx="3492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60900" y="17145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PC网站：校园二手交易平台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2413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场景与功能的清晰定位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921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完整的全称明确了平台的服务对象是学生群体，核心业务是二手物品流转，让用户一眼看懂平台价值。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1524000"/>
            <a:ext cx="3492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17145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小程序：校园二手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4130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轻量化的高效识别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921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适配移动端小程序的展示逻辑，名称更简洁、输入成本更低。在碎片化使用场景中，方便用户快速搜索与记忆。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35500"/>
            <a:ext cx="10922000" cy="1778000"/>
          </a:xfrm>
          <a:prstGeom prst="roundRect">
            <a:avLst>
              <a:gd name="adj" fmla="val 0"/>
            </a:avLst>
          </a:prstGeom>
          <a:solidFill>
            <a:srgbClr val="ECFCF1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6355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79500" y="476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不仅是一个名字，更是有温度的解决方案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79500" y="5334000"/>
            <a:ext cx="1041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旧的怎么办”不仅是一句朗朗上口的品牌口号，更是我们项目的行动指南。它精准捕捉了校园生活中普遍存在的闲置痛点，用亲切的口语化表达拉近与用户的距离。我们希望通过这个名字传递出一种积极的信号：无论旧物如何处理，我们都提供了一个可靠、便捷且充满活力的平台，让闲置流转变得简单，让每一次交易都成为一次温暖的连接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核心功能范围：覆盖二手交易全链路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71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6891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用户与认证体系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2225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基于校园场景的身份实名认证机制，通过学号、学籍等多重校验，构建平台信任基石，从源头保障交易双方的真实与安全。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306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306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02100" y="16891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商品发布与管理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22225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极简的发布流程，支持多图上传、详情描述与价格自由设定。支持一键下架、价格修改等便捷管理功能，让闲置流转更高效。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992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992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1600" y="171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70700" y="16891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商品搜索与发现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51600" y="22225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强大的精准搜索与多维度筛选引擎，支持按品类、价格区间、新旧程度、发布时间等条件快速检索，帮用户高效找到心仪好物。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678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0200" y="171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639300" y="16891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用户在线沟通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20200" y="2222500"/>
            <a:ext cx="23114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内置安全的端到端在线聊天系统，支持文字、图片即时发送。全程留痕可追溯，既保障沟通顺畅，又有效规避线下交易的潜在风险。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7465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37465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3937000"/>
            <a:ext cx="330200" cy="330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97000" y="3937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订单全生命周期管理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" y="4508500"/>
            <a:ext cx="3225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覆盖从下单支付、订单确认、发货物流到确认收货的完整闭环。实时同步订单状态，让每一笔交易的进度清晰可见，提升履约效率与用户体验。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445000" y="37465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445000" y="37465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7400" y="3937000"/>
            <a:ext cx="330200" cy="330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080000" y="3937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交易双向评价体系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97400" y="4508500"/>
            <a:ext cx="3225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交易完成后支持买卖双方互评，沉淀信用数据。好评积累正向口碑，差评触发风控审核，形成良性的社区信用约束，促进诚信交易环境建设。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28000" y="37465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128000" y="37465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80400" y="3937000"/>
            <a:ext cx="330200" cy="3302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763000" y="3937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平台基础管理后台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80400" y="4508500"/>
            <a:ext cx="3225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提供强大的运营支撑能力，包含商品合规审核、用户权限管理、违规内容监控与处理等核心功能。帮助平台高效治理，及时响应，保障社区健康有序运行。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项目实施规划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技术架构蓝图：稳健、高效、可扩展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3810"/>
            <a:ext cx="10414000" cy="5333365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273175"/>
          <a:ext cx="10414000" cy="533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2413000"/>
                <a:gridCol w="6096000"/>
              </a:tblGrid>
              <a:tr h="6572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架构层级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选型理由与优势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后端服务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Spring Boot + MyBatis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高效开发与稳定运行：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基于成熟的快速开发脚手架，提供灵活的 SQL 控制能力，在保障开发效率的同时，确保系统的高性能与长期运行稳定性，是后端业务逻辑的坚实基石。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PC前端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Vue.js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渐进式框架与丰富生态：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框架易于上手且学习曲线平缓，组件化开发模式能显著提升前端开发效率。配合其成熟丰富的周边生态，可快速构建出交互流畅、视觉高质量的企业级 PC 端应用界面。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小程序端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微信原生小程序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最佳性能与原生体验：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直接基于微信底层能力开发，无需额外框架桥接，能获得最流畅的运行性能。同时深度贴合微信生态，为用户提供最符合其使用习惯的原生操作体验，减少兼容适配成本。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MySQL 8.0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成熟稳定与强大功能：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作为全球业界主流的开源关系型数据库，具备卓越的事务处理能力与数据安全性。8.0版本的新特性进一步提升了性能，能够稳定支撑海量业务数据的存储与高并发读写操作。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缓存中间件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Redis 7.0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高性能缓存与数据结构：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通过内存级数据读写大幅提升响应速度，支持多种复杂数据结构以满足不同业务场景。有效缓存高频热点数据，显著降低数据库压力，保障系统在高并发场景下的快速响应。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协作与工具链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飞书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一体化协作平台：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深度整合在线文档、即时通讯与任务管理功能，打破信息孤岛。支持敏捷开发流程的全链路管理，让团队沟通更顺畅、项目推进更透明，大幅提升跨部门协作的整体效率。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开发模式：拥抱敏捷，快速迭代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73200"/>
            <a:ext cx="10160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核心策略：坚持</a:t>
            </a:r>
            <a:r>
              <a:rPr lang="en-US" sz="15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“先快速出基础版（MVP），再持续迭代优化”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的原则，摒弃“大而全”的一次性交付。通过高频小步快跑的方式，快速响应市场反馈，在实战中不断打磨产品体验与核心功能。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92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94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7940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迭代节奏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2385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2周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为一个标准冲刺周期，全项目共规划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6个Sprint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。固定时间盒内集中火力，确保阶段性目标的高效达成。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667000"/>
            <a:ext cx="3492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79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7940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目标导向计划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32385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Sprint计划会明确本次迭代核心目标，将大需求拆解为可执行的任务。团队对齐认知，认领任务，为后续开发执行打下坚实基础。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667000"/>
            <a:ext cx="3492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279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27940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透明化沟通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2385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每日站会同步进度、暴露风险，快速解决阻碍。评审与回顾会双管齐下，既展示阶段性成果，又复盘过程问题，形成持续改进的闭环。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3815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3815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4508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06500" y="4508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迭代规划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4889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明确本次Sprint目标，将Backlog中的需求细化为具体可执行的开发任务，制定执行计划。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581400" y="43815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581400" y="43815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08400" y="45085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025900" y="4508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冲刺执行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708400" y="4889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团队按计划高效开发，每日站会15分钟同步进度，快速扫清技术与协作障碍，确保节奏紧凑。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13500" y="43815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13500" y="43815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45085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858000" y="4508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评审验收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40500" y="4889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向利益相关者演示可运行版本，现场收集反馈意见，验证功能是否符合预期，及时调整方向。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232900" y="4381500"/>
            <a:ext cx="266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232900" y="4381500"/>
            <a:ext cx="266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59900" y="45085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677400" y="4508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复盘改进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359900" y="4889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总结本次迭代的经验与不足，提炼改进措施，优化开发流程与协作方式，赋能下一次Sprint。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5905500"/>
            <a:ext cx="11112500" cy="825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500" y="6032500"/>
            <a:ext cx="304800" cy="3048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1460500" y="60071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每个迭代产出可运行版本，固定输出项目周报。通过高频交付与透明化进度管理，确保产品价值稳步落地，实现从“做对的事”到“把事做对”的高效闭环。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核心团队与职责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团队角色与职责矩阵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李明阳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11475" y="1739900"/>
            <a:ext cx="2930525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985135" y="1752600"/>
            <a:ext cx="281876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项目经理 / 产品负责人 / 小程序负责人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929">
            <a:off x="952508" y="23050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2438400"/>
            <a:ext cx="1587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02665" y="265049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把控项目整体进度，统筹资源分配，全程管控潜在风险，确保项目按期交付。</a:t>
            </a:r>
            <a:endParaRPr lang="en-US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628900" y="2438400"/>
            <a:ext cx="1587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692400" y="265049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08000"/>
              </a:lnSpc>
              <a:buSzTx/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深度梳理业务需求，输出高保真产品原型，为技术实现提供精准的设计依据。</a:t>
            </a:r>
            <a:endParaRPr 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05300" y="2438400"/>
            <a:ext cx="1587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381500" y="265049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08000"/>
              </a:lnSpc>
              <a:buSzTx/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主导微信小程序全流程开发，攻克技术难点，完成与后端服务的高效联调。</a:t>
            </a:r>
            <a:endParaRPr 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9500" y="1524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159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17145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唐龙逸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1739900"/>
            <a:ext cx="25400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70900" y="17526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后端开发负责人 / 核心业务开发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929">
            <a:off x="6350008" y="23050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350000" y="2438400"/>
            <a:ext cx="2476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13500" y="265049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负责后端系统整体架构搭建，定义清晰的接口规范，构建稳定、可扩展的技术底座，支撑业务快速迭代。</a:t>
            </a:r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8953500" y="24384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017000" y="265049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主导用户、商品、订单等核心模块开发，编写高质量单元测试，确保业务逻辑严谨无误，数据流转准确。</a:t>
            </a:r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762000" y="41275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52500" y="42926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梁有黎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783330" y="4318000"/>
            <a:ext cx="205867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952240" y="4330700"/>
            <a:ext cx="185166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/ 数据 / 运维 负责人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8929">
            <a:off x="952508" y="4883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952500" y="5016500"/>
            <a:ext cx="1587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1016000" y="511302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负责数据库的表结构设计与查询优化，保障数据存储安全与查询的高效响应。</a:t>
            </a:r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2628900" y="5016500"/>
            <a:ext cx="1587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2692400" y="5113020"/>
            <a:ext cx="1460500" cy="1045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落地Redis缓存方案，解决高并发场景下的性能瓶颈，显著提升系统吞吐量。</a:t>
            </a:r>
            <a:endParaRPr lang="en-US"/>
          </a:p>
        </p:txBody>
      </p:sp>
      <p:sp>
        <p:nvSpPr>
          <p:cNvPr id="43" name="AutoShape 43"/>
          <p:cNvSpPr/>
          <p:nvPr/>
        </p:nvSpPr>
        <p:spPr>
          <a:xfrm>
            <a:off x="4305300" y="5016500"/>
            <a:ext cx="1587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4343400" y="5016500"/>
            <a:ext cx="1460500" cy="118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搭建开发、测试及生产环境，制定部署流程，保障系统平稳运行与版本更迭。</a:t>
            </a:r>
            <a:endParaRPr lang="en-US"/>
          </a:p>
        </p:txBody>
      </p:sp>
      <p:sp>
        <p:nvSpPr>
          <p:cNvPr id="46" name="AutoShape 46"/>
          <p:cNvSpPr/>
          <p:nvPr/>
        </p:nvSpPr>
        <p:spPr>
          <a:xfrm>
            <a:off x="6159500" y="41275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61595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6350000" y="42926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杨航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241790" y="4330700"/>
            <a:ext cx="199771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9363710" y="4318000"/>
            <a:ext cx="183769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PC网站前端开发负责人</a:t>
            </a:r>
            <a:endParaRPr lang="en-US" sz="1100"/>
          </a:p>
        </p:txBody>
      </p:sp>
      <p:cxnSp>
        <p:nvCxnSpPr>
          <p:cNvPr id="51" name="Connector 51"/>
          <p:cNvCxnSpPr/>
          <p:nvPr/>
        </p:nvCxnSpPr>
        <p:spPr>
          <a:xfrm rot="-8929">
            <a:off x="6350008" y="4883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AutoShape 52"/>
          <p:cNvSpPr/>
          <p:nvPr/>
        </p:nvSpPr>
        <p:spPr>
          <a:xfrm>
            <a:off x="6350000" y="5016500"/>
            <a:ext cx="24765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4"/>
          <p:cNvSpPr/>
          <p:nvPr/>
        </p:nvSpPr>
        <p:spPr>
          <a:xfrm>
            <a:off x="6413500" y="511302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负责PC端Vue项目的架构搭建，完成UI组件库的选型与基础组件封装，为前端开发建立统一标准。</a:t>
            </a:r>
            <a:endParaRPr lang="en-US"/>
          </a:p>
        </p:txBody>
      </p:sp>
      <p:sp>
        <p:nvSpPr>
          <p:cNvPr id="55" name="AutoShape 55"/>
          <p:cNvSpPr/>
          <p:nvPr/>
        </p:nvSpPr>
        <p:spPr>
          <a:xfrm>
            <a:off x="8953500" y="5016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/>
          <p:nvPr/>
        </p:nvSpPr>
        <p:spPr>
          <a:xfrm>
            <a:off x="9017000" y="511302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主导全页面的像素级还原与交互开发，优化用户操作体验，确保PC端与小程序端体验的一致性。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沟通与协作机制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52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7145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17907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778000" y="17145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即时沟通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1016000" y="23622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l" eaLnBrk="1" fontAlgn="auto" latinLnBrk="0" hangingPunct="1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利用高频使用的社交工具进行日常信息同步、突发问题讨论，打破时空限制，实现问题的即时反馈与快速决策，保障执行环节不卡顿。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223000" y="152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6223000" y="1524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6477000" y="17145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3200" y="17907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239000" y="17145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文档协同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6477000" y="23241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  <a:buSzTx/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将PRD、会议纪要、工作周报等核心材料统一沉淀于飞书平台，支持多人在线实时编辑与版本追溯，告别反复传输文件，让知识流转更高效。</a:t>
            </a:r>
            <a:endParaRPr 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762000" y="3873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9"/>
            </p:custDataLst>
          </p:nvPr>
        </p:nvSpPr>
        <p:spPr>
          <a:xfrm>
            <a:off x="762000" y="3873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0"/>
            </p:custDataLst>
          </p:nvPr>
        </p:nvSpPr>
        <p:spPr>
          <a:xfrm>
            <a:off x="1016000" y="40640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2200" y="41402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1778000" y="40640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任务管理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5"/>
            </p:custDataLst>
          </p:nvPr>
        </p:nvSpPr>
        <p:spPr>
          <a:xfrm>
            <a:off x="1016000" y="46736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  <a:buSzTx/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通过飞书任务或共享多维表格同步关键节点，明确任务负责人与交付标准。全员可实时查看进度状态，避免信息孤岛，确保执行过程清晰可控。</a:t>
            </a:r>
            <a:endParaRPr 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6"/>
            </p:custDataLst>
          </p:nvPr>
        </p:nvSpPr>
        <p:spPr>
          <a:xfrm>
            <a:off x="6223000" y="3873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7"/>
            </p:custDataLst>
          </p:nvPr>
        </p:nvSpPr>
        <p:spPr>
          <a:xfrm>
            <a:off x="6223000" y="3873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8"/>
            </p:custDataLst>
          </p:nvPr>
        </p:nvSpPr>
        <p:spPr>
          <a:xfrm>
            <a:off x="6477000" y="40640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553200" y="41402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>
            <p:custDataLst>
              <p:tags r:id="rId32"/>
            </p:custDataLst>
          </p:nvPr>
        </p:nvSpPr>
        <p:spPr>
          <a:xfrm>
            <a:off x="7239000" y="40640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定期同步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33"/>
            </p:custDataLst>
          </p:nvPr>
        </p:nvSpPr>
        <p:spPr>
          <a:xfrm>
            <a:off x="6477000" y="46736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  <a:buSzTx/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每周固定召开Sprint周期会议，完成里程碑进度汇报，对本周遇到的阻碍进行深度复盘。通过面对面的深度对齐，快速调整方向，保障项目按节奏推进。</a:t>
            </a:r>
            <a:endParaRPr 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81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762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项目时间表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关键里程碑：把握项目脉搏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52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914400" y="1676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M0：项目启动与需求定稿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914400" y="2159000"/>
            <a:ext cx="32004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990600" y="2171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2026.03.29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13641">
            <a:off x="914413" y="26606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914400" y="27432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完成核心需求梳理，输出需求规格说明书、高保真产品原型与UI设计稿，并制定详细的项目开发计划，为开发阶段奠定坚实基础。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457700" y="152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457700" y="152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4610100" y="1676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M1：MVP最小可行版本交付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4610100" y="2159000"/>
            <a:ext cx="3200400" cy="3048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4686300" y="2171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2026.04.12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4"/>
            </p:custDataLst>
          </p:nvPr>
        </p:nvCxnSpPr>
        <p:spPr>
          <a:xfrm rot="-13641">
            <a:off x="4610113" y="26606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4610100" y="27432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开发实现核心业务功能，完成可运行的基础版本，确保核心交易流程全闭环。目前团队正全力攻坚，按计划推进功能开发与初步测试。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8153400" y="152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8153400" y="152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8305800" y="1676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M2：中期答辩版本交付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8305800" y="2159000"/>
            <a:ext cx="3200400" cy="3048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8382000" y="2171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2026.04.26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1"/>
            </p:custDataLst>
          </p:nvPr>
        </p:nvCxnSpPr>
        <p:spPr>
          <a:xfrm rot="-13641">
            <a:off x="8305813" y="26606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8305800" y="27432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目标达成80%功能完成度，输出稳定可演示版本。同步准备中期答辩全套汇报材料，向评审组展示阶段性成果与后续迭代方案。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762000" y="406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914400" y="4216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M3：全功能正式版交付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25"/>
            </p:custDataLst>
          </p:nvPr>
        </p:nvSpPr>
        <p:spPr>
          <a:xfrm>
            <a:off x="990600" y="4711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2026.05.10</a:t>
            </a:r>
            <a:endParaRPr lang="en-US" sz="1200" b="1">
              <a:solidFill>
                <a:srgbClr val="15803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>
            <p:custDataLst>
              <p:tags r:id="rId26"/>
            </p:custDataLst>
          </p:nvPr>
        </p:nvCxnSpPr>
        <p:spPr>
          <a:xfrm rot="-13641">
            <a:off x="914413" y="52006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>
            <p:custDataLst>
              <p:tags r:id="rId27"/>
            </p:custDataLst>
          </p:nvPr>
        </p:nvSpPr>
        <p:spPr>
          <a:xfrm>
            <a:off x="914400" y="52832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实现全部功能模块开发落地，完成系统全流程压力测试与Bug修复。交付经过充分验证的全功能版本，满足业务上线的技术指标要求。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28"/>
            </p:custDataLst>
          </p:nvPr>
        </p:nvSpPr>
        <p:spPr>
          <a:xfrm>
            <a:off x="4457700" y="406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>
            <p:custDataLst>
              <p:tags r:id="rId29"/>
            </p:custDataLst>
          </p:nvPr>
        </p:nvSpPr>
        <p:spPr>
          <a:xfrm>
            <a:off x="4457700" y="406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4755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>
            <p:custDataLst>
              <p:tags r:id="rId30"/>
            </p:custDataLst>
          </p:nvPr>
        </p:nvSpPr>
        <p:spPr>
          <a:xfrm>
            <a:off x="4610100" y="4216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M4：最终交付与答辩准备</a:t>
            </a:r>
            <a:endParaRPr lang="en-US" sz="1100"/>
          </a:p>
        </p:txBody>
      </p:sp>
      <p:sp>
        <p:nvSpPr>
          <p:cNvPr id="36" name="AutoShape 36"/>
          <p:cNvSpPr/>
          <p:nvPr>
            <p:custDataLst>
              <p:tags r:id="rId31"/>
            </p:custDataLst>
          </p:nvPr>
        </p:nvSpPr>
        <p:spPr>
          <a:xfrm>
            <a:off x="4686300" y="4711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2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2026.05.24</a:t>
            </a:r>
            <a:endParaRPr lang="en-US" sz="1200" b="1">
              <a:solidFill>
                <a:srgbClr val="C2410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37" name="Connector 37"/>
          <p:cNvCxnSpPr/>
          <p:nvPr>
            <p:custDataLst>
              <p:tags r:id="rId32"/>
            </p:custDataLst>
          </p:nvPr>
        </p:nvCxnSpPr>
        <p:spPr>
          <a:xfrm rot="-13641">
            <a:off x="4610113" y="52006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>
            <p:custDataLst>
              <p:tags r:id="rId33"/>
            </p:custDataLst>
          </p:nvPr>
        </p:nvSpPr>
        <p:spPr>
          <a:xfrm>
            <a:off x="4610100" y="52832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部署生产环境最终版本，整理完整的项目技术文档与用户手册。完成最终答辩PPT及演示Demo的精细打磨，确保交付物的完整性。</a:t>
            </a:r>
            <a:endParaRPr lang="en-US" sz="1100"/>
          </a:p>
        </p:txBody>
      </p:sp>
      <p:sp>
        <p:nvSpPr>
          <p:cNvPr id="39" name="AutoShape 39"/>
          <p:cNvSpPr/>
          <p:nvPr>
            <p:custDataLst>
              <p:tags r:id="rId34"/>
            </p:custDataLst>
          </p:nvPr>
        </p:nvSpPr>
        <p:spPr>
          <a:xfrm>
            <a:off x="8153400" y="406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>
            <p:custDataLst>
              <p:tags r:id="rId35"/>
            </p:custDataLst>
          </p:nvPr>
        </p:nvSpPr>
        <p:spPr>
          <a:xfrm>
            <a:off x="8153400" y="406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4755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>
            <p:custDataLst>
              <p:tags r:id="rId36"/>
            </p:custDataLst>
          </p:nvPr>
        </p:nvSpPr>
        <p:spPr>
          <a:xfrm>
            <a:off x="8305800" y="4216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M5：项目最终验收</a:t>
            </a:r>
            <a:endParaRPr lang="en-US" sz="1100"/>
          </a:p>
        </p:txBody>
      </p:sp>
      <p:sp>
        <p:nvSpPr>
          <p:cNvPr id="43" name="AutoShape 43"/>
          <p:cNvSpPr/>
          <p:nvPr>
            <p:custDataLst>
              <p:tags r:id="rId37"/>
            </p:custDataLst>
          </p:nvPr>
        </p:nvSpPr>
        <p:spPr>
          <a:xfrm>
            <a:off x="8382000" y="4711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2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2026.06.03</a:t>
            </a:r>
            <a:endParaRPr lang="en-US" sz="1200" b="1">
              <a:solidFill>
                <a:srgbClr val="1D4ED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44" name="Connector 44"/>
          <p:cNvCxnSpPr/>
          <p:nvPr>
            <p:custDataLst>
              <p:tags r:id="rId38"/>
            </p:custDataLst>
          </p:nvPr>
        </p:nvCxnSpPr>
        <p:spPr>
          <a:xfrm rot="-13641">
            <a:off x="8305813" y="5200650"/>
            <a:ext cx="320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AutoShape 45"/>
          <p:cNvSpPr/>
          <p:nvPr>
            <p:custDataLst>
              <p:tags r:id="rId39"/>
            </p:custDataLst>
          </p:nvPr>
        </p:nvSpPr>
        <p:spPr>
          <a:xfrm>
            <a:off x="8305800" y="52832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组织最终项目答辩会议，向各方汇报项目成果与价值。完成所有验收流程与签字确认，标志着项目正式结束并移交运维团队进行后续维护。</a:t>
            </a:r>
            <a:endParaRPr lang="en-US" sz="1100"/>
          </a:p>
        </p:txBody>
      </p:sp>
      <p:sp>
        <p:nvSpPr>
          <p:cNvPr id="46" name="AutoShape 5"/>
          <p:cNvSpPr/>
          <p:nvPr>
            <p:custDataLst>
              <p:tags r:id="rId40"/>
            </p:custDataLst>
          </p:nvPr>
        </p:nvSpPr>
        <p:spPr>
          <a:xfrm>
            <a:off x="762000" y="406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12"/>
          <p:cNvSpPr/>
          <p:nvPr>
            <p:custDataLst>
              <p:tags r:id="rId41"/>
            </p:custDataLst>
          </p:nvPr>
        </p:nvSpPr>
        <p:spPr>
          <a:xfrm>
            <a:off x="4457700" y="406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19"/>
          <p:cNvSpPr/>
          <p:nvPr>
            <p:custDataLst>
              <p:tags r:id="rId42"/>
            </p:custDataLst>
          </p:nvPr>
        </p:nvSpPr>
        <p:spPr>
          <a:xfrm>
            <a:off x="8153400" y="4064000"/>
            <a:ext cx="3505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7"/>
          <p:cNvSpPr/>
          <p:nvPr>
            <p:custDataLst>
              <p:tags r:id="rId43"/>
            </p:custDataLst>
          </p:nvPr>
        </p:nvSpPr>
        <p:spPr>
          <a:xfrm>
            <a:off x="914400" y="4711700"/>
            <a:ext cx="32004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14"/>
          <p:cNvSpPr/>
          <p:nvPr>
            <p:custDataLst>
              <p:tags r:id="rId44"/>
            </p:custDataLst>
          </p:nvPr>
        </p:nvSpPr>
        <p:spPr>
          <a:xfrm>
            <a:off x="4610100" y="4711700"/>
            <a:ext cx="3200400" cy="3048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21"/>
          <p:cNvSpPr/>
          <p:nvPr>
            <p:custDataLst>
              <p:tags r:id="rId45"/>
            </p:custDataLst>
          </p:nvPr>
        </p:nvSpPr>
        <p:spPr>
          <a:xfrm>
            <a:off x="8305800" y="4711700"/>
            <a:ext cx="3200400" cy="3048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详细进度计划：按Sprint推进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52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1 · 项目启航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1968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03.16 - 03.29 | 第一阶段准备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587">
            <a:off x="914413" y="240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14400" y="2476500"/>
            <a:ext cx="3238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完成项目正式启动，敲定技术架构方案，完成核心业务需求的深度梳理与原型设计。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073400"/>
            <a:ext cx="3238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90600" y="3111500"/>
            <a:ext cx="3111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详细PRD文档、高保真产品原型、全套UI设计规范稿。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19600" y="1397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19600" y="139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152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2 · 核心基建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1968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03.30 - 04.12 | MVP版本开发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587">
            <a:off x="4572013" y="240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2476500"/>
            <a:ext cx="3238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专注MVP核心功能开发，实现用户管理、商品展示与基础订单流转的闭环业务逻辑。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3073400"/>
            <a:ext cx="3238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48200" y="3111500"/>
            <a:ext cx="3111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可独立运行的MVP基础版本、数据库物理模型设计文档。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64500" y="1397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64500" y="139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16900" y="152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3 · 功能扩容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16900" y="1968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04.13 - 04.26 | 全维度拓展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587">
            <a:off x="8216913" y="240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16900" y="2476500"/>
            <a:ext cx="3238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开发搜索、即时通讯、评价体系等扩展功能，并着手准备中期项目汇报的相关材料。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16900" y="3073400"/>
            <a:ext cx="3238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293100" y="3111500"/>
            <a:ext cx="3111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中期答辩稳定版程序、中期项目汇报演示PPT。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3937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393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14400" y="406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4 · 打磨体验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14400" y="4508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04.27 - 05.10 | 优化与补全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3587">
            <a:off x="914413" y="494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14400" y="5016500"/>
            <a:ext cx="3238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完成剩余功能点补全，针对系统性能进行专项优化，提升用户操作的流畅度与体验感。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14400" y="5613400"/>
            <a:ext cx="3238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90600" y="5651500"/>
            <a:ext cx="3111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全功能正式版软件、系统性能与体验优化技术报告。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419600" y="3937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419600" y="393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4572000" y="406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5 · 交付上线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572000" y="4508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05.12 - 05.25 | 测试与验收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13587">
            <a:off x="4572013" y="494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4572000" y="5016500"/>
            <a:ext cx="3238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执行全面的系统测试，修复遗留Bug，完成生产环境部署配置，为最终上线做最后冲刺。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4572000" y="5613400"/>
            <a:ext cx="3238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4648200" y="5651500"/>
            <a:ext cx="3111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生产环境正式发布版、完整的项目开发与技术文档。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064500" y="3937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064500" y="3937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216900" y="406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Sprint 6 · 收官复盘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216900" y="4508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05.26 - 06.03 | 最终交付</a:t>
            </a:r>
            <a:endParaRPr lang="en-US" sz="1100"/>
          </a:p>
        </p:txBody>
      </p:sp>
      <p:cxnSp>
        <p:nvCxnSpPr>
          <p:cNvPr id="48" name="Connector 48"/>
          <p:cNvCxnSpPr/>
          <p:nvPr/>
        </p:nvCxnSpPr>
        <p:spPr>
          <a:xfrm rot="-13587">
            <a:off x="8216913" y="49466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/>
          <p:nvPr/>
        </p:nvSpPr>
        <p:spPr>
          <a:xfrm>
            <a:off x="8216900" y="5016500"/>
            <a:ext cx="3238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进行最终项目答辩准备，完成所有代码与资产的归档，开展项目整体的经验总结与复盘。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216900" y="5613400"/>
            <a:ext cx="3238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/>
          <p:nvPr/>
        </p:nvSpPr>
        <p:spPr>
          <a:xfrm>
            <a:off x="8293100" y="5651500"/>
            <a:ext cx="3111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关键产出：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最终答辩全套材料、项目代码与成果物归档包。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资源与风险管理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资源需求与风险管理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508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524000"/>
            <a:ext cx="50165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1714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本地开发环境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09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基于团队成员个人笔记本设备，预装基础开发环境，满足日常编码与调试，适配灵活的工作习惯。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61804">
            <a:off x="2882900" y="2279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492500" y="1651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56000" y="1714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云端部署资源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09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选用学生优惠云服务器（2核4G），低成本搭建测试与生产环境，具备弹性扩容能力，降低运维门槛。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238500"/>
            <a:ext cx="2438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89000" y="3238500"/>
            <a:ext cx="2438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90600" y="3340100"/>
            <a:ext cx="2222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核心开发套件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90600" y="3683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IntelliJ IDEA、VS Code 高效编码，微信开发者工具一站式完成小程序端的开发与预览调试。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92500" y="3238500"/>
            <a:ext cx="2438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492500" y="3238500"/>
            <a:ext cx="2438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594100" y="3340100"/>
            <a:ext cx="2222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数据服务支撑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594100" y="3683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 稳定存储业务核心数据，Redis 7.0 加速高频访问，DBeaver 实现数据库可视化管理。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" y="4826000"/>
            <a:ext cx="2438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4826000"/>
            <a:ext cx="2438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90600" y="4927600"/>
            <a:ext cx="2222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协同办公体系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90600" y="5270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Apifox 统一管理接口文档，即时设计进行UI协作，飞书文档沉淀项目资产，保障信息同步效率。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492500" y="4826000"/>
            <a:ext cx="24384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492500" y="4826000"/>
            <a:ext cx="2438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594100" y="4927600"/>
            <a:ext cx="2222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质量保障工具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594100" y="5270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Postman 执行接口功能验证，JMeter 开展性能压力测试，在上线前有效识别并解决潜在技术隐患。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90953">
            <a:off x="3746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350000" y="1397000"/>
            <a:ext cx="5524500" cy="508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6477000" y="1651000"/>
          <a:ext cx="5334000" cy="492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587500"/>
                <a:gridCol w="698500"/>
                <a:gridCol w="635000"/>
                <a:gridCol w="1397000"/>
              </a:tblGrid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风险描述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影响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应对策略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核心业务逻辑或技术难点在开发中实现受阻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F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提前调研开源方案，组织技术评审，及时寻求外部技术指导。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进度风险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需求临时变更或技术难题导致项目整体滞后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EF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遵循敏捷开发流程，优先保障核心任务，预留弹性缓冲期。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资源风险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云服务器成本超支或突发故障影响服务运行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采用学生优惠资源，建立数据定期备份与故障应急预案。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协作风险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信息传递偏差或沟通不及时引发任务延误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固化每日站会机制，关键信息在飞书实时沉淀共享。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6764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67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清晰的目标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225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打造校园闲置交易新生态，以学生真实需求为核心，重构校园二手物品流转体验，让资源高效流动。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306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30600" y="152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1676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29100" y="167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可行的计划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21100" y="22225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采用稳健可扩展的技术架构，结合敏捷开发模式，分阶段推进功能上线，兼顾开发效率与系统稳定性。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992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99200" y="152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9700" y="16764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97700" y="167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强大的团队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89700" y="22225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汇聚技术开发、产品设计与运营推广人才，技能互补且分工明确，高效协同攻克项目中的各项难题。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152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67800" y="152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58300" y="16764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66300" y="1676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充分的准备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58300" y="22225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完成了详尽的资源规划与风险评估，制定了完备的应急预案，为项目顺利启动和长期运营做好充分铺垫。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937000"/>
            <a:ext cx="10922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3937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4089400"/>
            <a:ext cx="1028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坚信，「旧的怎么办」将不只是一个简单的交易平台，更是连接校园生活的温暖纽带。它将切实解决同学们的物品处置难题，成为校园生活中不可或缺的实用好帮手。在未来的运营中，我们将持续打磨产品，用心服务每一位用户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9500" y="5715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谢谢大家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9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0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1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2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3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350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26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27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28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29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0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1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2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3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4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5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6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7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8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39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0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1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2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3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4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5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6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7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8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49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0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1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2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3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4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5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6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7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8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59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0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1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2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3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4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5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6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7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ags/tag68.xml><?xml version="1.0" encoding="utf-8"?>
<p:tagLst xmlns:p="http://schemas.openxmlformats.org/presentationml/2006/main">
  <p:tag name="KSO_WM_DIAGRAM_VIRTUALLY_FRAME" val="{&quot;height&quot;:385,&quot;left&quot;:60,&quot;top&quot;:120,&quot;width&quot;:85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5951</Words>
  <Application>WPS 演示</Application>
  <PresentationFormat/>
  <Paragraphs>474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Ykimna</cp:lastModifiedBy>
  <cp:revision>12</cp:revision>
  <dcterms:created xsi:type="dcterms:W3CDTF">2026-05-31T12:30:00Z</dcterms:created>
  <dcterms:modified xsi:type="dcterms:W3CDTF">2026-05-31T12:52:20Z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{"Label":"1","ContentProducer":"001191110102MACQD9K64010000","ProduceID":"7646028307179686844","ReservedCode1":"","ContentPropagator":"","PropagateID":"","ReservedCode2":""}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30273C6797D944F5B9AC09B5F51E9702_12</vt:lpwstr>
  </property>
</Properties>
</file>